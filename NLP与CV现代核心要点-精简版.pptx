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开场先讲为什么做减法：不是否定传统内容，而是把课堂时间集中到学生真正需要带走的主干。,本课件把 NLP 与 CV 放到同一条现代 AI 主线上讲：表示学习、Transformer、基础模型、多模态、RAG/工具、评估与落地。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本页直接回应用户反馈：原课件为面面俱到而冗余。,讲解时强调：BoW、TF-IDF、传统视觉预处理不是没意义，而是不应占据主课时。它们只作为历史参照或工程补充。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这页是全课锚点。,NLP 的 token 和 CV 的 patch 在课堂上要并排讲：它们都是把连续复杂世界拆成模型可处理的离散单元，再映射成向量。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这页要帮助学生换范式：现在不是每个任务都从零训练一个模型。,真正的工程问题变成：选什么基础模型，补什么数据，用什么检索和工具，怎样评估。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 NLP 部分。提醒听众：ChatGPT 只是界面，背后是语言建模、表示学习和系统集成。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 NLP 部分目录。,讲解重点：现代 NLP 不是停用词、词形还原、TF-IDF 的组合，而是基础模型系统。旧方法可以一笔带过，现代项目优先考虑 embedding、上下文、工具和评估。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建议现场举例：同一个“苹果”在水果、电商、公司新闻中的语义不同。,可以强调：Embedding 是把语言接入数据库和业务系统的桥。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不要陷入 Q/K/V 矩阵推导。,把注意力讲成“在生成或理解某个词时，模型动态分配注意力到相关词”。再补充三类架构的任务倾向。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本页要打破一个误解：模型会说话不代表答案可靠。,预训练提供通用能力；指令和偏好训练让它更像助手；真实场景还需要 RAG、工具、权限、日志和评估。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讲解时可以用“企业知识库问答”做例子：用户问制度，系统先检索制度原文，再让模型基于证据回答。,工具调用则是让模型不止会说，还能通过受控接口做事。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这一页把 NLP 从“能做很多应用”收束成四类链路。,尤其强调高风险场景：不能只看模型回答是否自然，要看证据、责任和可追溯性。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 CV 部分。强调现在的 CV 不只是图像分类，也不只是 OpenCV 预处理，而是视觉基础模型和多模态系统。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 CV 部分目录。,把旧课件中的大量传统预处理压缩为背景：在现代深度学习系统中，特征主要由模型学习，预处理更多是数据质量和部署工程问题。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课堂上可以把一张图片比作一段文本：文字有 token，图像有 patch。,ViT 的关键是把图像 patch 当作序列处理，再用位置编码保留空间结构。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原课件里 CV 应用很多，但学生容易混淆任务。,这页用输出形式区分：分类输出标签，检测输出框，分割输出 mask，跟踪输出时间连续身份。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不要把这些模型讲成模型排行榜。,ViT 讲架构扩展性；CLIP 讲图文对齐；SAM 讲 promptable segmentation。它们共同体现 CV 走向基础模型。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本页适合收束 CV 前沿。,不必深入 NeRF、Gaussian Splatting、Diffusion Transformer 的细节，但要说明为什么视频和 3D 是下一步：它们更接近真实世界的时空结构。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这一页要提醒：CV 工程比 demo 更难。,同一个模型在实验室图片上很好，到现场可能被光照、镜头、遮挡、污渍、角度和数据漂移击穿。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第三部分解释为什么要把两节合并讲：现代 AI 系统越来越多是多模态系统。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多模态不是简单把图片传给聊天机器人。,关键是建立图像区域、文字描述、用户意图和外部工具之间的对齐关系。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这页可作为整节课的总图。,讲解时按一个例子走：用户上传合同图片并提问。系统需要 OCR/视觉理解、检索条款、语言模型生成、引用证据、必要时调用审批流程。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这页很重要。,现代 AI 课程如果不讲评估，学生会误以为模型输出自然就代表可用。NLP 要讲幻觉和证据；CV 要讲真实环境鲁棒性；系统要讲端到端指标。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这页可作为授课者的时间分配。,如果只有 45 分钟，把 NLP/CV 各压到 12 分钟，多模态架构和评估各 8 分钟，最后 5 分钟总结。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总结时逐条读即可。,这是整份课件的压缩记忆点，也是检查学生是否真正理解主线的提纲。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这页作为备查。,如果后续模型名变化，课件主线仍然稳定：表示、基础模型、多模态、工具、评估。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自然语言处理与计算机视觉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02412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精简版：删掉历史堆叠，抓住当前主流范式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D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65836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现代核心要点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76656" y="2240280"/>
            <a:ext cx="58064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4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NLP 和 CV 不再是两套完全割裂的技术课。今天的主线是：把文本、图像、视频都变成可学习的表示，再用大模型、检索、工具和评估把能力落到真实任务。</a:t>
            </a:r>
            <a:endParaRPr lang="en-US" sz="1540" dirty="0"/>
          </a:p>
        </p:txBody>
      </p:sp>
      <p:sp>
        <p:nvSpPr>
          <p:cNvPr id="8" name="Shape 6"/>
          <p:cNvSpPr/>
          <p:nvPr/>
        </p:nvSpPr>
        <p:spPr>
          <a:xfrm>
            <a:off x="713232" y="3246120"/>
            <a:ext cx="2011680" cy="310896"/>
          </a:xfrm>
          <a:prstGeom prst="roundRect">
            <a:avLst>
              <a:gd name="adj" fmla="val 20588"/>
            </a:avLst>
          </a:prstGeom>
          <a:solidFill>
            <a:srgbClr val="E5F4F3"/>
          </a:solidFill>
          <a:ln w="10160">
            <a:solidFill>
              <a:srgbClr val="0F8B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3314700"/>
            <a:ext cx="186537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0F8B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 2026 课堂讲解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926080" y="3246120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1F8"/>
          </a:solidFill>
          <a:ln w="10160">
            <a:solidFill>
              <a:srgbClr val="255C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3314700"/>
            <a:ext cx="12252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255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 1-2 课时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480560" y="3246120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FCEBE6"/>
          </a:solidFill>
          <a:ln w="10160">
            <a:solidFill>
              <a:srgbClr val="D95D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3314700"/>
            <a:ext cx="12252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D95D3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带讲解备注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040880" y="1389888"/>
            <a:ext cx="434340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1773936"/>
            <a:ext cx="1097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F8B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NLP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52360" y="2231136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 -&gt; token -&gt; embedding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738360" y="1773936"/>
            <a:ext cx="1097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55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CV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72600" y="2231136"/>
            <a:ext cx="1828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图像 -&gt; patch -&gt; embedding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0" y="2761488"/>
            <a:ext cx="1920240" cy="1005840"/>
          </a:xfrm>
          <a:prstGeom prst="arc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85048" y="2871216"/>
            <a:ext cx="1664208" cy="621792"/>
          </a:xfrm>
          <a:prstGeom prst="roundRect">
            <a:avLst>
              <a:gd name="adj" fmla="val 5882"/>
            </a:avLst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31352" y="3054096"/>
            <a:ext cx="1371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Transformer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62672" y="3904488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同一套思想，处理不同模态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" y="4800600"/>
            <a:ext cx="5669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2434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 -&gt; 表示 -&gt; 模型 -&gt; 输出 -&gt; 验证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NLP + CV 核心要点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这版删什么，留什么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02412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原则：旧方法只保留“理解现代范式所必需的对照”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521208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73152" cy="4389120"/>
          </a:xfrm>
          <a:prstGeom prst="rect">
            <a:avLst/>
          </a:prstGeom>
          <a:solidFill>
            <a:srgbClr val="D95D39"/>
          </a:solidFill>
          <a:ln w="12700">
            <a:solidFill>
              <a:srgbClr val="D95D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581912"/>
            <a:ext cx="4846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删掉或压缩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2002536"/>
            <a:ext cx="4828032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语言类型学细分、ELIZA 等历史叙述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One-hot / BoW / TF-IDF 的大篇幅推导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图像滤波、边缘、形态学等传统预处理清单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HOG/SIFT 等手工特征与应用案例堆叠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重复的“定义-分类-意义”教材式页面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21208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17320"/>
            <a:ext cx="73152" cy="43891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581912"/>
            <a:ext cx="4846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集中讲清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10528" y="2002536"/>
            <a:ext cx="4828032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Token、Embedding、Attention、Transformer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预训练、指令对齐、RAG、工具调用、Agent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Patch、ViT、CLIP、SAM、VLM、生成式视觉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识别/检测/分割/跟踪/视觉问答的任务边界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评估、幻觉、偏见、延迟、成本与安全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950976" y="6016752"/>
            <a:ext cx="9875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434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一句话：从“列知识点”改成“讲现代系统怎么工作”。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NLP + CV 核心要点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NLP 与 CV 的共同底层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02412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AI 的关键不是“规则更多”，而是“表示更强 + 规模更大 + 验证更严格”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36192"/>
            <a:ext cx="1645920" cy="786384"/>
          </a:xfrm>
          <a:prstGeom prst="roundRect">
            <a:avLst>
              <a:gd name="adj" fmla="val 5814"/>
            </a:avLst>
          </a:prstGeom>
          <a:solidFill>
            <a:srgbClr val="FFF2D8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原始数据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76856" y="1792224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05456" y="1536192"/>
            <a:ext cx="1645920" cy="786384"/>
          </a:xfrm>
          <a:prstGeom prst="roundRect">
            <a:avLst>
              <a:gd name="adj" fmla="val 5814"/>
            </a:avLst>
          </a:prstGeom>
          <a:solidFill>
            <a:srgbClr val="E5F4F3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96896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/ Patch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23944" y="1792224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2544" y="1536192"/>
            <a:ext cx="1645920" cy="786384"/>
          </a:xfrm>
          <a:prstGeom prst="roundRect">
            <a:avLst>
              <a:gd name="adj" fmla="val 5814"/>
            </a:avLst>
          </a:prstGeom>
          <a:solidFill>
            <a:srgbClr val="EAF1F8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3984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71032" y="1792224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1536192"/>
            <a:ext cx="1645920" cy="786384"/>
          </a:xfrm>
          <a:prstGeom prst="roundRect">
            <a:avLst>
              <a:gd name="adj" fmla="val 5814"/>
            </a:avLst>
          </a:prstGeom>
          <a:solidFill>
            <a:srgbClr val="243447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Transformer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18120" y="1792224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1536192"/>
            <a:ext cx="1645920" cy="786384"/>
          </a:xfrm>
          <a:prstGeom prst="roundRect">
            <a:avLst>
              <a:gd name="adj" fmla="val 5814"/>
            </a:avLst>
          </a:prstGeom>
          <a:solidFill>
            <a:srgbClr val="EAF4ED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预训练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65208" y="1792224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93808" y="1536192"/>
            <a:ext cx="1645920" cy="786384"/>
          </a:xfrm>
          <a:prstGeom prst="roundRect">
            <a:avLst>
              <a:gd name="adj" fmla="val 5814"/>
            </a:avLst>
          </a:prstGeom>
          <a:solidFill>
            <a:srgbClr val="FCEBE6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85248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对齐与部署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" y="2743200"/>
            <a:ext cx="338328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" y="2743200"/>
            <a:ext cx="73152" cy="242316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2907792"/>
            <a:ext cx="3017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表示学习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7824" y="3328416"/>
            <a:ext cx="2999232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文本变 token，图像/视频变 patch。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模型不是直接“理解世界”，而是在向量空间里学习相似性、结构和上下文。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4434840" y="2743200"/>
            <a:ext cx="338328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4840" y="2743200"/>
            <a:ext cx="73152" cy="2423160"/>
          </a:xfrm>
          <a:prstGeom prst="rect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6008" y="2907792"/>
            <a:ext cx="3017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基础模型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36008" y="3328416"/>
            <a:ext cx="2999232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先用大规模数据学通用能力，再通过提示、检索、微调或工具适配具体任务。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8183880" y="2743200"/>
            <a:ext cx="338328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2743200"/>
            <a:ext cx="73152" cy="2423160"/>
          </a:xfrm>
          <a:prstGeom prst="rect">
            <a:avLst/>
          </a:prstGeom>
          <a:solidFill>
            <a:srgbClr val="5C946E"/>
          </a:solidFill>
          <a:ln w="12700">
            <a:solidFill>
              <a:srgbClr val="5C94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85048" y="2907792"/>
            <a:ext cx="3017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系统工程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85048" y="3328416"/>
            <a:ext cx="2999232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真实可用依赖数据、评估、反馈、延迟、成本、安全和人机协作，不只是模型参数。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NLP + CV 核心要点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从“单任务模型”到“基础模型系统”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02412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主流变化：任务不再只靠重新训练模型，而是组合能力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D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D95D3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过去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1874520"/>
            <a:ext cx="2569464" cy="786384"/>
          </a:xfrm>
          <a:prstGeom prst="roundRect">
            <a:avLst>
              <a:gd name="adj" fmla="val 5814"/>
            </a:avLst>
          </a:prstGeom>
          <a:solidFill>
            <a:srgbClr val="FCEBE6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075688"/>
            <a:ext cx="23865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标注数据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2130552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874520"/>
            <a:ext cx="2569464" cy="786384"/>
          </a:xfrm>
          <a:prstGeom prst="roundRect">
            <a:avLst>
              <a:gd name="adj" fmla="val 5814"/>
            </a:avLst>
          </a:prstGeom>
          <a:solidFill>
            <a:srgbClr val="FCEBE6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075688"/>
            <a:ext cx="23865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训练专用模型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71032" y="2130552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1874520"/>
            <a:ext cx="2569464" cy="786384"/>
          </a:xfrm>
          <a:prstGeom prst="roundRect">
            <a:avLst>
              <a:gd name="adj" fmla="val 5814"/>
            </a:avLst>
          </a:prstGeom>
          <a:solidFill>
            <a:srgbClr val="FCEBE6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2075688"/>
            <a:ext cx="23865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固定输出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41664" y="2130552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70264" y="1874520"/>
            <a:ext cx="2569464" cy="786384"/>
          </a:xfrm>
          <a:prstGeom prst="roundRect">
            <a:avLst>
              <a:gd name="adj" fmla="val 5814"/>
            </a:avLst>
          </a:prstGeom>
          <a:solidFill>
            <a:srgbClr val="FCEBE6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61704" y="2075688"/>
            <a:ext cx="23865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重新训练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0F8B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现在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8368" y="3703320"/>
            <a:ext cx="2015338" cy="786384"/>
          </a:xfrm>
          <a:prstGeom prst="roundRect">
            <a:avLst>
              <a:gd name="adj" fmla="val 5814"/>
            </a:avLst>
          </a:prstGeom>
          <a:solidFill>
            <a:srgbClr val="E5F4F3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904488"/>
            <a:ext cx="183245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基础模型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46274" y="3959352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4874" y="3703320"/>
            <a:ext cx="2015338" cy="786384"/>
          </a:xfrm>
          <a:prstGeom prst="roundRect">
            <a:avLst>
              <a:gd name="adj" fmla="val 5814"/>
            </a:avLst>
          </a:prstGeom>
          <a:solidFill>
            <a:srgbClr val="EAF1F8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66314" y="3904488"/>
            <a:ext cx="183245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提示/上下文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62779" y="3959352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91379" y="3703320"/>
            <a:ext cx="2015338" cy="786384"/>
          </a:xfrm>
          <a:prstGeom prst="roundRect">
            <a:avLst>
              <a:gd name="adj" fmla="val 5814"/>
            </a:avLst>
          </a:prstGeom>
          <a:solidFill>
            <a:srgbClr val="FFF2D8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82819" y="3904488"/>
            <a:ext cx="183245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检索/工具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79285" y="3959352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07885" y="3703320"/>
            <a:ext cx="2015338" cy="786384"/>
          </a:xfrm>
          <a:prstGeom prst="roundRect">
            <a:avLst>
              <a:gd name="adj" fmla="val 5814"/>
            </a:avLst>
          </a:prstGeom>
          <a:solidFill>
            <a:srgbClr val="EAF4ED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99325" y="3904488"/>
            <a:ext cx="183245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评估/反馈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295790" y="3959352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24390" y="3703320"/>
            <a:ext cx="2015338" cy="786384"/>
          </a:xfrm>
          <a:prstGeom prst="roundRect">
            <a:avLst>
              <a:gd name="adj" fmla="val 5814"/>
            </a:avLst>
          </a:prstGeom>
          <a:solidFill>
            <a:srgbClr val="FCEBE6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15830" y="3904488"/>
            <a:ext cx="183245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产品闭环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5010912"/>
            <a:ext cx="103327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lnSpc>
                <a:spcPct val="92000"/>
              </a:lnSpc>
              <a:buSzPct val="100000"/>
              <a:buChar char="•"/>
            </a:pPr>
            <a:r>
              <a:rPr lang="en-US" sz="1220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NLP：大语言模型承担理解、生成、推理、调用工具。</a:t>
            </a:r>
            <a:endParaRPr lang="en-US" sz="1220" dirty="0"/>
          </a:p>
          <a:p>
            <a:pPr marL="152400" indent="-152400">
              <a:lnSpc>
                <a:spcPct val="92000"/>
              </a:lnSpc>
              <a:buSzPct val="100000"/>
              <a:buChar char="•"/>
            </a:pPr>
            <a:r>
              <a:rPr lang="en-US" sz="1220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CV：视觉基础模型承担识别、定位、分割、跨模态对齐。</a:t>
            </a:r>
            <a:endParaRPr lang="en-US" sz="1220" dirty="0"/>
          </a:p>
          <a:p>
            <a:pPr marL="152400" indent="-152400">
              <a:lnSpc>
                <a:spcPct val="92000"/>
              </a:lnSpc>
              <a:buSzPct val="100000"/>
              <a:buChar char="•"/>
            </a:pPr>
            <a:r>
              <a:rPr lang="en-US" sz="1220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多模态：文本、图像、视频和动作接口开始合并。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NLP + CV 核心要点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2286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>
                    <a:alpha val="90000"/>
                  </a:srgbClr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2148840"/>
            <a:ext cx="104241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NLP：语言模型不是聊天框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94944" y="3063240"/>
            <a:ext cx="9784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FFFFFF">
                    <a:alpha val="92000"/>
                  </a:srgbClr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核心是 token、语义向量、注意力、对齐、外部知识与行动能力。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4944" y="3749040"/>
            <a:ext cx="3840480" cy="0"/>
          </a:xfrm>
          <a:prstGeom prst="line">
            <a:avLst/>
          </a:prstGeom>
          <a:noFill/>
          <a:ln w="25400">
            <a:solidFill>
              <a:srgbClr val="FFFFFF">
                <a:alpha val="8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NLP 现在先抓五件事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02412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不用从语言学分类讲起，先抓住现代系统的骨架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444752"/>
            <a:ext cx="3246120" cy="1508760"/>
          </a:xfrm>
          <a:prstGeom prst="roundRect">
            <a:avLst>
              <a:gd name="adj" fmla="val 3636"/>
            </a:avLst>
          </a:prstGeom>
          <a:solidFill>
            <a:srgbClr val="FFF2D8"/>
          </a:solidFill>
          <a:ln w="10160">
            <a:solidFill>
              <a:srgbClr val="F2A541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618488"/>
            <a:ext cx="38404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2A5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44752" y="1645920"/>
            <a:ext cx="2423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103120"/>
            <a:ext cx="28346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文本被切成模型可处理的片段，不等同于自然语言里的“词”。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17136" y="1444752"/>
            <a:ext cx="3246120" cy="1508760"/>
          </a:xfrm>
          <a:prstGeom prst="roundRect">
            <a:avLst>
              <a:gd name="adj" fmla="val 3636"/>
            </a:avLst>
          </a:prstGeom>
          <a:solidFill>
            <a:srgbClr val="E5F4F3"/>
          </a:solidFill>
          <a:ln w="10160">
            <a:solidFill>
              <a:srgbClr val="0F8B8D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618488"/>
            <a:ext cx="38404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0F8B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75504" y="1645920"/>
            <a:ext cx="2423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18304" y="2103120"/>
            <a:ext cx="28346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把文本映射到向量空间，用距离表达语义相关性。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47888" y="1444752"/>
            <a:ext cx="3246120" cy="1508760"/>
          </a:xfrm>
          <a:prstGeom prst="roundRect">
            <a:avLst>
              <a:gd name="adj" fmla="val 3636"/>
            </a:avLst>
          </a:prstGeom>
          <a:solidFill>
            <a:srgbClr val="EAF1F8"/>
          </a:solidFill>
          <a:ln w="10160">
            <a:solidFill>
              <a:srgbClr val="255C99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618488"/>
            <a:ext cx="38404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255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906256" y="1645920"/>
            <a:ext cx="2423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Transformer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49056" y="2103120"/>
            <a:ext cx="28346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注意力机制让模型在上下文中选择重要信息。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6384" y="3657600"/>
            <a:ext cx="4572000" cy="1508760"/>
          </a:xfrm>
          <a:prstGeom prst="roundRect">
            <a:avLst>
              <a:gd name="adj" fmla="val 3636"/>
            </a:avLst>
          </a:prstGeom>
          <a:solidFill>
            <a:srgbClr val="EAF4ED"/>
          </a:solidFill>
          <a:ln w="10160">
            <a:solidFill>
              <a:srgbClr val="5C946E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3831336"/>
            <a:ext cx="38404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5C94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44752" y="3858768"/>
            <a:ext cx="3749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7552" y="4315968"/>
            <a:ext cx="41605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从“会续写”变成“会按指令、少犯错、可控输出”。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17136" y="3657600"/>
            <a:ext cx="4572000" cy="1508760"/>
          </a:xfrm>
          <a:prstGeom prst="roundRect">
            <a:avLst>
              <a:gd name="adj" fmla="val 3636"/>
            </a:avLst>
          </a:prstGeom>
          <a:solidFill>
            <a:srgbClr val="FCEBE6"/>
          </a:solidFill>
          <a:ln w="10160">
            <a:solidFill>
              <a:srgbClr val="D95D39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3831336"/>
            <a:ext cx="38404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D95D3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75504" y="3858768"/>
            <a:ext cx="3749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RAG/工具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18304" y="4315968"/>
            <a:ext cx="41605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把模型接到知识库、搜索、数据库、代码和业务系统。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NLP + CV 核心要点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与 Embedding：语言先变成向量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02412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Embedding 是现代 NLP 最重要的接口之一：搜索、推荐、聚类、分类都依赖它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2015338" cy="786384"/>
          </a:xfrm>
          <a:prstGeom prst="roundRect">
            <a:avLst>
              <a:gd name="adj" fmla="val 5814"/>
            </a:avLst>
          </a:prstGeom>
          <a:solidFill>
            <a:srgbClr val="FFF2D8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18488"/>
            <a:ext cx="183245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46274" y="1673352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74874" y="1417320"/>
            <a:ext cx="2015338" cy="786384"/>
          </a:xfrm>
          <a:prstGeom prst="roundRect">
            <a:avLst>
              <a:gd name="adj" fmla="val 5814"/>
            </a:avLst>
          </a:prstGeom>
          <a:solidFill>
            <a:srgbClr val="E5F4F3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66314" y="1618488"/>
            <a:ext cx="183245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序列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62779" y="1673352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91379" y="1417320"/>
            <a:ext cx="2015338" cy="786384"/>
          </a:xfrm>
          <a:prstGeom prst="roundRect">
            <a:avLst>
              <a:gd name="adj" fmla="val 5814"/>
            </a:avLst>
          </a:prstGeom>
          <a:solidFill>
            <a:srgbClr val="EAF1F8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2819" y="1618488"/>
            <a:ext cx="183245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上下文表示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79285" y="1673352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07885" y="1417320"/>
            <a:ext cx="2015338" cy="786384"/>
          </a:xfrm>
          <a:prstGeom prst="roundRect">
            <a:avLst>
              <a:gd name="adj" fmla="val 5814"/>
            </a:avLst>
          </a:prstGeom>
          <a:solidFill>
            <a:srgbClr val="EAF4ED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99325" y="1618488"/>
            <a:ext cx="183245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向量空间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95790" y="1673352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4390" y="1417320"/>
            <a:ext cx="2015338" cy="786384"/>
          </a:xfrm>
          <a:prstGeom prst="roundRect">
            <a:avLst>
              <a:gd name="adj" fmla="val 5814"/>
            </a:avLst>
          </a:prstGeom>
          <a:solidFill>
            <a:srgbClr val="FCEBE6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15830" y="1618488"/>
            <a:ext cx="183245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相似性/检索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" y="2743200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2743200"/>
            <a:ext cx="73152" cy="260604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90779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不要误解 Token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328416"/>
            <a:ext cx="3090672" cy="1892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不是中文分词课里的“词”。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同一句话在不同模型中可能切法不同。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上下文窗口限制的是 token 数，不是字数。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4434840" y="2743200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2743200"/>
            <a:ext cx="73152" cy="26060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290779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Embedding 的直觉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36008" y="3328416"/>
            <a:ext cx="3090672" cy="1892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语义相近的文本，在向量空间距离更近。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所以可以做语义搜索、聚类、推荐、异常检测。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8156448" y="2743200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56448" y="2743200"/>
            <a:ext cx="73152" cy="2606040"/>
          </a:xfrm>
          <a:prstGeom prst="rect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57616" y="290779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课堂例子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57616" y="3328416"/>
            <a:ext cx="3090672" cy="1892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“苹果手机”和“水果苹果”表面同词，语境不同。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现代模型会给出上下文化表示，而不是固定词典含义。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NLP + CV 核心要点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Transformer：核心是注意力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02412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一句话：每个位置都可以根据上下文动态决定该看哪里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645920"/>
            <a:ext cx="786384" cy="384048"/>
          </a:xfrm>
          <a:prstGeom prst="roundRect">
            <a:avLst>
              <a:gd name="adj" fmla="val 16667"/>
            </a:avLst>
          </a:prstGeom>
          <a:solidFill>
            <a:srgbClr val="EAF1F8"/>
          </a:solidFill>
          <a:ln w="10160">
            <a:solidFill>
              <a:srgbClr val="255C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714500"/>
            <a:ext cx="640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55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44752" y="2148840"/>
            <a:ext cx="1408176" cy="1051560"/>
          </a:xfrm>
          <a:prstGeom prst="line">
            <a:avLst/>
          </a:prstGeom>
          <a:noFill/>
          <a:ln w="15240">
            <a:solidFill>
              <a:srgbClr val="0F8B8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94560" y="1645920"/>
            <a:ext cx="786384" cy="384048"/>
          </a:xfrm>
          <a:prstGeom prst="roundRect">
            <a:avLst>
              <a:gd name="adj" fmla="val 16667"/>
            </a:avLst>
          </a:prstGeom>
          <a:solidFill>
            <a:srgbClr val="EAF1F8"/>
          </a:solidFill>
          <a:ln w="10160">
            <a:solidFill>
              <a:srgbClr val="255C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67712" y="1714500"/>
            <a:ext cx="640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55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87752" y="2148840"/>
            <a:ext cx="1847088" cy="1051560"/>
          </a:xfrm>
          <a:prstGeom prst="line">
            <a:avLst/>
          </a:prstGeom>
          <a:noFill/>
          <a:ln w="15240">
            <a:solidFill>
              <a:srgbClr val="0F8B8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37560" y="1645920"/>
            <a:ext cx="786384" cy="384048"/>
          </a:xfrm>
          <a:prstGeom prst="roundRect">
            <a:avLst>
              <a:gd name="adj" fmla="val 16667"/>
            </a:avLst>
          </a:prstGeom>
          <a:solidFill>
            <a:srgbClr val="FCEBE6"/>
          </a:solidFill>
          <a:ln w="10160">
            <a:solidFill>
              <a:srgbClr val="D95D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714500"/>
            <a:ext cx="640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D95D3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1645920"/>
            <a:ext cx="786384" cy="384048"/>
          </a:xfrm>
          <a:prstGeom prst="roundRect">
            <a:avLst>
              <a:gd name="adj" fmla="val 16667"/>
            </a:avLst>
          </a:prstGeom>
          <a:solidFill>
            <a:srgbClr val="EAF1F8"/>
          </a:solidFill>
          <a:ln w="10160">
            <a:solidFill>
              <a:srgbClr val="255C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1714500"/>
            <a:ext cx="640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55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73752" y="2148840"/>
            <a:ext cx="1847088" cy="1051560"/>
          </a:xfrm>
          <a:prstGeom prst="line">
            <a:avLst/>
          </a:prstGeom>
          <a:noFill/>
          <a:ln w="15240">
            <a:solidFill>
              <a:srgbClr val="0F8B8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23560" y="1645920"/>
            <a:ext cx="786384" cy="384048"/>
          </a:xfrm>
          <a:prstGeom prst="roundRect">
            <a:avLst>
              <a:gd name="adj" fmla="val 16667"/>
            </a:avLst>
          </a:prstGeom>
          <a:solidFill>
            <a:srgbClr val="EAF1F8"/>
          </a:solidFill>
          <a:ln w="10160">
            <a:solidFill>
              <a:srgbClr val="255C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96712" y="1714500"/>
            <a:ext cx="640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55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有什么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16752" y="2148840"/>
            <a:ext cx="1408176" cy="1051560"/>
          </a:xfrm>
          <a:prstGeom prst="line">
            <a:avLst/>
          </a:prstGeom>
          <a:noFill/>
          <a:ln w="15240">
            <a:solidFill>
              <a:srgbClr val="0F8B8D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60920" y="141732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07808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注意力直觉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35240" y="2176272"/>
            <a:ext cx="274320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lnSpc>
                <a:spcPct val="92000"/>
              </a:lnSpc>
              <a:buSzPct val="100000"/>
              <a:buChar char="•"/>
            </a:pPr>
            <a:r>
              <a:rPr lang="en-US" sz="1100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不是固定窗口</a:t>
            </a:r>
            <a:endParaRPr lang="en-US" sz="1100" dirty="0"/>
          </a:p>
          <a:p>
            <a:pPr marL="152400" indent="-152400">
              <a:lnSpc>
                <a:spcPct val="92000"/>
              </a:lnSpc>
              <a:buSzPct val="100000"/>
              <a:buChar char="•"/>
            </a:pPr>
            <a:r>
              <a:rPr lang="en-US" sz="1100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不是只看相邻词</a:t>
            </a:r>
            <a:endParaRPr lang="en-US" sz="1100" dirty="0"/>
          </a:p>
          <a:p>
            <a:pPr marL="152400" indent="-152400">
              <a:lnSpc>
                <a:spcPct val="92000"/>
              </a:lnSpc>
              <a:buSzPct val="100000"/>
              <a:buChar char="•"/>
            </a:pPr>
            <a:r>
              <a:rPr lang="en-US" sz="1100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会根据上下文动态加权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456432"/>
            <a:ext cx="9601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434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生成“图片”相关回答时，模型会更关注“图片”“有什么”等上下文。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13232" y="4370832"/>
            <a:ext cx="34747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4370832"/>
            <a:ext cx="73152" cy="1143000"/>
          </a:xfrm>
          <a:prstGeom prst="rect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535424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Encoder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956048"/>
            <a:ext cx="309067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双向看上下文，适合理解、分类、抽取。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4434840" y="4370832"/>
            <a:ext cx="34747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34840" y="4370832"/>
            <a:ext cx="73152" cy="1143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36008" y="4535424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Decoder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36008" y="4956048"/>
            <a:ext cx="309067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按顺序生成下一个 token，适合对话、写作、代码。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8156448" y="4370832"/>
            <a:ext cx="34747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56448" y="4370832"/>
            <a:ext cx="73152" cy="114300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57616" y="4535424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Encoder-Decoder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57616" y="4956048"/>
            <a:ext cx="309067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输入到输出转换，适合翻译、摘要等任务。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NLP + CV 核心要点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训练：从续写到可用助手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02412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大模型能力来自多阶段训练，不是一次训练完成全部能力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81328"/>
            <a:ext cx="2015338" cy="786384"/>
          </a:xfrm>
          <a:prstGeom prst="roundRect">
            <a:avLst>
              <a:gd name="adj" fmla="val 5814"/>
            </a:avLst>
          </a:prstGeom>
          <a:solidFill>
            <a:srgbClr val="EAF1F8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82496"/>
            <a:ext cx="183245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预训练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46274" y="1737360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74874" y="1481328"/>
            <a:ext cx="2015338" cy="786384"/>
          </a:xfrm>
          <a:prstGeom prst="roundRect">
            <a:avLst>
              <a:gd name="adj" fmla="val 5814"/>
            </a:avLst>
          </a:prstGeom>
          <a:solidFill>
            <a:srgbClr val="E5F4F3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66314" y="1682496"/>
            <a:ext cx="183245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指令微调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62779" y="1737360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91379" y="1481328"/>
            <a:ext cx="2015338" cy="786384"/>
          </a:xfrm>
          <a:prstGeom prst="roundRect">
            <a:avLst>
              <a:gd name="adj" fmla="val 5814"/>
            </a:avLst>
          </a:prstGeom>
          <a:solidFill>
            <a:srgbClr val="EAF4ED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2819" y="1682496"/>
            <a:ext cx="183245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偏好/安全对齐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79285" y="1737360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07885" y="1481328"/>
            <a:ext cx="2015338" cy="786384"/>
          </a:xfrm>
          <a:prstGeom prst="roundRect">
            <a:avLst>
              <a:gd name="adj" fmla="val 5814"/>
            </a:avLst>
          </a:prstGeom>
          <a:solidFill>
            <a:srgbClr val="FFF2D8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99325" y="1682496"/>
            <a:ext cx="183245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工具与检索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95790" y="1737360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4390" y="1481328"/>
            <a:ext cx="2015338" cy="786384"/>
          </a:xfrm>
          <a:prstGeom prst="roundRect">
            <a:avLst>
              <a:gd name="adj" fmla="val 5814"/>
            </a:avLst>
          </a:prstGeom>
          <a:solidFill>
            <a:srgbClr val="FCEBE6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15830" y="1682496"/>
            <a:ext cx="183245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上线评估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" y="2743200"/>
            <a:ext cx="52120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2743200"/>
            <a:ext cx="73152" cy="2286000"/>
          </a:xfrm>
          <a:prstGeom prst="rect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907792"/>
            <a:ext cx="4846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预训练学什么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328416"/>
            <a:ext cx="4828032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从海量文本、代码和多模态数据中学习语言规律、知识关联、推理模式和世界常识。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本质上是预测下一个 token，但规模带来泛化能力。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6309360" y="2743200"/>
            <a:ext cx="52120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2743200"/>
            <a:ext cx="73152" cy="2286000"/>
          </a:xfrm>
          <a:prstGeom prst="rect">
            <a:avLst/>
          </a:prstGeom>
          <a:solidFill>
            <a:srgbClr val="5C946E"/>
          </a:solidFill>
          <a:ln w="12700">
            <a:solidFill>
              <a:srgbClr val="5C94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2907792"/>
            <a:ext cx="4846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对齐解决什么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10528" y="3328416"/>
            <a:ext cx="4828032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让模型更愿意按人类指令工作，更少输出危险、无关或不可控内容。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但对齐不能消除全部幻觉，事实性仍要靠检索和评估。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914400" y="5577840"/>
            <a:ext cx="10241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D95D3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关键提醒：流畅 ≠ 正确；会回答 ≠ 有证据。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NLP + CV 核心要点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 与工具：让模型接入真实世界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02412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主流 NLP 产品不是“裸模型”，而是模型 + 数据 + 工具 + 评估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89888"/>
            <a:ext cx="1645920" cy="786384"/>
          </a:xfrm>
          <a:prstGeom prst="roundRect">
            <a:avLst>
              <a:gd name="adj" fmla="val 5814"/>
            </a:avLst>
          </a:prstGeom>
          <a:solidFill>
            <a:srgbClr val="FFF2D8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91056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用户问题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76856" y="1645920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05456" y="1389888"/>
            <a:ext cx="1645920" cy="786384"/>
          </a:xfrm>
          <a:prstGeom prst="roundRect">
            <a:avLst>
              <a:gd name="adj" fmla="val 5814"/>
            </a:avLst>
          </a:prstGeom>
          <a:solidFill>
            <a:srgbClr val="EAF1F8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96896" y="1591056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检索知识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23944" y="1645920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2544" y="1389888"/>
            <a:ext cx="1645920" cy="786384"/>
          </a:xfrm>
          <a:prstGeom prst="roundRect">
            <a:avLst>
              <a:gd name="adj" fmla="val 5814"/>
            </a:avLst>
          </a:prstGeom>
          <a:solidFill>
            <a:srgbClr val="E5F4F3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3984" y="1591056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重排/筛选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71032" y="1645920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1389888"/>
            <a:ext cx="1645920" cy="786384"/>
          </a:xfrm>
          <a:prstGeom prst="roundRect">
            <a:avLst>
              <a:gd name="adj" fmla="val 5814"/>
            </a:avLst>
          </a:prstGeom>
          <a:solidFill>
            <a:srgbClr val="243447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591056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模型生成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18120" y="1645920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1389888"/>
            <a:ext cx="1645920" cy="786384"/>
          </a:xfrm>
          <a:prstGeom prst="roundRect">
            <a:avLst>
              <a:gd name="adj" fmla="val 5814"/>
            </a:avLst>
          </a:prstGeom>
          <a:solidFill>
            <a:srgbClr val="EAF4ED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1591056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引用/验证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65208" y="1645920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93808" y="1389888"/>
            <a:ext cx="1645920" cy="786384"/>
          </a:xfrm>
          <a:prstGeom prst="roundRect">
            <a:avLst>
              <a:gd name="adj" fmla="val 5814"/>
            </a:avLst>
          </a:prstGeom>
          <a:solidFill>
            <a:srgbClr val="FCEBE6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85248" y="1591056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工具行动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" y="2697480"/>
            <a:ext cx="347472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2697480"/>
            <a:ext cx="73152" cy="2697480"/>
          </a:xfrm>
          <a:prstGeom prst="rect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286207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 解决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3282696"/>
            <a:ext cx="3090672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知识更新慢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企业私有知识无法进预训练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答案需要证据来源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降低凭空编造风险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4434840" y="2697480"/>
            <a:ext cx="347472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4840" y="2697480"/>
            <a:ext cx="73152" cy="26974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6008" y="286207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工具调用解决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36008" y="3282696"/>
            <a:ext cx="3090672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查数据库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发起 API 请求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执行代码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生成文件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操作业务流程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8156448" y="2697480"/>
            <a:ext cx="347472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56448" y="2697480"/>
            <a:ext cx="73152" cy="2697480"/>
          </a:xfrm>
          <a:prstGeom prst="rect">
            <a:avLst/>
          </a:prstGeom>
          <a:solidFill>
            <a:srgbClr val="D95D39"/>
          </a:solidFill>
          <a:ln w="12700">
            <a:solidFill>
              <a:srgbClr val="D95D3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57616" y="286207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仍需评估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57616" y="3282696"/>
            <a:ext cx="3090672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检索是否召回正确证据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模型是否忠于证据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工具参数是否安全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失败时是否会拒答或澄清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NLP + CV 核心要点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NLP 落地：四类主流场景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02412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用任务链路讲，不用应用名堆叠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417320"/>
            <a:ext cx="2606040" cy="35661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417320"/>
            <a:ext cx="73152" cy="3566160"/>
          </a:xfrm>
          <a:prstGeom prst="rect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81912"/>
            <a:ext cx="2240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语义检索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002536"/>
            <a:ext cx="2221992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查询理解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向量召回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重排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答案生成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3611880" y="1417320"/>
            <a:ext cx="2606040" cy="35661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417320"/>
            <a:ext cx="73152" cy="35661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3048" y="1581912"/>
            <a:ext cx="2240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文档问答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13048" y="2002536"/>
            <a:ext cx="2221992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解析文档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切块/索引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证据引用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权限控制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6510528" y="1417320"/>
            <a:ext cx="2606040" cy="35661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0528" y="1417320"/>
            <a:ext cx="73152" cy="3566160"/>
          </a:xfrm>
          <a:prstGeom prst="rect">
            <a:avLst/>
          </a:prstGeom>
          <a:solidFill>
            <a:srgbClr val="5C946E"/>
          </a:solidFill>
          <a:ln w="12700">
            <a:solidFill>
              <a:srgbClr val="5C94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1696" y="1581912"/>
            <a:ext cx="2240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智能客服/办公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11696" y="2002536"/>
            <a:ext cx="2221992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意图识别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流程路由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工具执行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人工兜底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9409176" y="1417320"/>
            <a:ext cx="2148840" cy="35661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9176" y="1417320"/>
            <a:ext cx="73152" cy="356616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10344" y="1581912"/>
            <a:ext cx="1783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内容与代码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10344" y="2002536"/>
            <a:ext cx="1764792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改写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审校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822960" y="5440680"/>
            <a:ext cx="1078992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lnSpc>
                <a:spcPct val="92000"/>
              </a:lnSpc>
              <a:buSzPct val="100000"/>
              <a:buChar char="•"/>
            </a:pPr>
            <a:r>
              <a:rPr lang="en-US" sz="1180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红线：医疗、法律、金融、教育评价等高风险场景必须有证据、审计和人工责任链。</a:t>
            </a:r>
            <a:endParaRPr lang="en-US" sz="1180" dirty="0"/>
          </a:p>
          <a:p>
            <a:pPr marL="152400" indent="-152400">
              <a:lnSpc>
                <a:spcPct val="92000"/>
              </a:lnSpc>
              <a:buSzPct val="100000"/>
              <a:buChar char="•"/>
            </a:pPr>
            <a:r>
              <a:rPr lang="en-US" sz="1180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评估：正确率、证据忠实度、拒答质量、延迟、成本、用户完成率。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NLP + CV 核心要点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2286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>
                    <a:alpha val="90000"/>
                  </a:srgbClr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2148840"/>
            <a:ext cx="104241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CV：视觉模型不只是分类图片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94944" y="3063240"/>
            <a:ext cx="9784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FFFFFF">
                    <a:alpha val="92000"/>
                  </a:srgbClr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核心是 patch、视觉骨干、定位/分割、视觉语言对齐、视频与生成。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4944" y="3749040"/>
            <a:ext cx="3840480" cy="0"/>
          </a:xfrm>
          <a:prstGeom prst="line">
            <a:avLst/>
          </a:prstGeom>
          <a:noFill/>
          <a:ln w="25400">
            <a:solidFill>
              <a:srgbClr val="FFFFFF">
                <a:alpha val="8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CV 现在先抓五件事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02412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从像素操作转向视觉表示和基础模型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444752"/>
            <a:ext cx="3246120" cy="1508760"/>
          </a:xfrm>
          <a:prstGeom prst="roundRect">
            <a:avLst>
              <a:gd name="adj" fmla="val 3636"/>
            </a:avLst>
          </a:prstGeom>
          <a:solidFill>
            <a:srgbClr val="FFF2D8"/>
          </a:solidFill>
          <a:ln w="10160">
            <a:solidFill>
              <a:srgbClr val="F2A541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618488"/>
            <a:ext cx="38404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2A5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44752" y="1645920"/>
            <a:ext cx="2423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Patch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103120"/>
            <a:ext cx="28346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图像/视频被切成 patch，进入类似 token 的序列表示。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17136" y="1444752"/>
            <a:ext cx="3246120" cy="1508760"/>
          </a:xfrm>
          <a:prstGeom prst="roundRect">
            <a:avLst>
              <a:gd name="adj" fmla="val 3636"/>
            </a:avLst>
          </a:prstGeom>
          <a:solidFill>
            <a:srgbClr val="EAF1F8"/>
          </a:solidFill>
          <a:ln w="10160">
            <a:solidFill>
              <a:srgbClr val="255C99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618488"/>
            <a:ext cx="38404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255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75504" y="1645920"/>
            <a:ext cx="2423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Backbone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18304" y="2103120"/>
            <a:ext cx="28346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CNN、ViT、混合架构负责提取视觉特征。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47888" y="1444752"/>
            <a:ext cx="3246120" cy="1508760"/>
          </a:xfrm>
          <a:prstGeom prst="roundRect">
            <a:avLst>
              <a:gd name="adj" fmla="val 3636"/>
            </a:avLst>
          </a:prstGeom>
          <a:solidFill>
            <a:srgbClr val="EAF4ED"/>
          </a:solidFill>
          <a:ln w="10160">
            <a:solidFill>
              <a:srgbClr val="5C946E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618488"/>
            <a:ext cx="38404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5C94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906256" y="1645920"/>
            <a:ext cx="2423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定位/分割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49056" y="2103120"/>
            <a:ext cx="28346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从“是什么”走向“在哪里、哪个像素、哪个实例”。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6384" y="3657600"/>
            <a:ext cx="4572000" cy="1508760"/>
          </a:xfrm>
          <a:prstGeom prst="roundRect">
            <a:avLst>
              <a:gd name="adj" fmla="val 3636"/>
            </a:avLst>
          </a:prstGeom>
          <a:solidFill>
            <a:srgbClr val="E5F4F3"/>
          </a:solidFill>
          <a:ln w="10160">
            <a:solidFill>
              <a:srgbClr val="0F8B8D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3831336"/>
            <a:ext cx="38404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0F8B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44752" y="3858768"/>
            <a:ext cx="3749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视觉语言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7552" y="4315968"/>
            <a:ext cx="41605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CLIP/VLM 让图像和文本共享语义空间。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17136" y="3657600"/>
            <a:ext cx="4572000" cy="1508760"/>
          </a:xfrm>
          <a:prstGeom prst="roundRect">
            <a:avLst>
              <a:gd name="adj" fmla="val 3636"/>
            </a:avLst>
          </a:prstGeom>
          <a:solidFill>
            <a:srgbClr val="FCEBE6"/>
          </a:solidFill>
          <a:ln w="10160">
            <a:solidFill>
              <a:srgbClr val="D95D39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3831336"/>
            <a:ext cx="38404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D95D3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75504" y="3858768"/>
            <a:ext cx="3749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生成/视频/3D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18304" y="4315968"/>
            <a:ext cx="41605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视觉模型从理解图像扩展到生成、编辑、时序和空间建模。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NLP + CV 核心要点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图像表示：从像素到 Patch Token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02412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视觉和语言正在共享相似的建模思路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" y="1298448"/>
            <a:ext cx="306324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444752"/>
            <a:ext cx="329184" cy="329184"/>
          </a:xfrm>
          <a:prstGeom prst="rect">
            <a:avLst/>
          </a:prstGeom>
          <a:solidFill>
            <a:srgbClr val="EAF1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0472" y="1444752"/>
            <a:ext cx="329184" cy="329184"/>
          </a:xfrm>
          <a:prstGeom prst="rect">
            <a:avLst/>
          </a:prstGeom>
          <a:solidFill>
            <a:srgbClr val="E5F4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37944" y="1444752"/>
            <a:ext cx="329184" cy="329184"/>
          </a:xfrm>
          <a:prstGeom prst="rect">
            <a:avLst/>
          </a:prstGeom>
          <a:solidFill>
            <a:srgbClr val="FFF2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85416" y="1444752"/>
            <a:ext cx="329184" cy="329184"/>
          </a:xfrm>
          <a:prstGeom prst="rect">
            <a:avLst/>
          </a:prstGeom>
          <a:solidFill>
            <a:srgbClr val="EAF1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32888" y="1444752"/>
            <a:ext cx="329184" cy="329184"/>
          </a:xfrm>
          <a:prstGeom prst="rect">
            <a:avLst/>
          </a:prstGeom>
          <a:solidFill>
            <a:srgbClr val="E5F4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0360" y="1444752"/>
            <a:ext cx="329184" cy="329184"/>
          </a:xfrm>
          <a:prstGeom prst="rect">
            <a:avLst/>
          </a:prstGeom>
          <a:solidFill>
            <a:srgbClr val="FFF2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1792224"/>
            <a:ext cx="329184" cy="329184"/>
          </a:xfrm>
          <a:prstGeom prst="rect">
            <a:avLst/>
          </a:prstGeom>
          <a:solidFill>
            <a:srgbClr val="E5F4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90472" y="1792224"/>
            <a:ext cx="329184" cy="329184"/>
          </a:xfrm>
          <a:prstGeom prst="rect">
            <a:avLst/>
          </a:prstGeom>
          <a:solidFill>
            <a:srgbClr val="FFF2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37944" y="1792224"/>
            <a:ext cx="329184" cy="329184"/>
          </a:xfrm>
          <a:prstGeom prst="rect">
            <a:avLst/>
          </a:prstGeom>
          <a:solidFill>
            <a:srgbClr val="EAF1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85416" y="1792224"/>
            <a:ext cx="329184" cy="329184"/>
          </a:xfrm>
          <a:prstGeom prst="rect">
            <a:avLst/>
          </a:prstGeom>
          <a:solidFill>
            <a:srgbClr val="E5F4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32888" y="1792224"/>
            <a:ext cx="329184" cy="329184"/>
          </a:xfrm>
          <a:prstGeom prst="rect">
            <a:avLst/>
          </a:prstGeom>
          <a:solidFill>
            <a:srgbClr val="FFF2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1792224"/>
            <a:ext cx="329184" cy="329184"/>
          </a:xfrm>
          <a:prstGeom prst="rect">
            <a:avLst/>
          </a:prstGeom>
          <a:solidFill>
            <a:srgbClr val="EAF1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" y="2139696"/>
            <a:ext cx="329184" cy="329184"/>
          </a:xfrm>
          <a:prstGeom prst="rect">
            <a:avLst/>
          </a:prstGeom>
          <a:solidFill>
            <a:srgbClr val="FFF2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90472" y="2139696"/>
            <a:ext cx="329184" cy="329184"/>
          </a:xfrm>
          <a:prstGeom prst="rect">
            <a:avLst/>
          </a:prstGeom>
          <a:solidFill>
            <a:srgbClr val="EAF1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37944" y="2139696"/>
            <a:ext cx="329184" cy="329184"/>
          </a:xfrm>
          <a:prstGeom prst="rect">
            <a:avLst/>
          </a:prstGeom>
          <a:solidFill>
            <a:srgbClr val="E5F4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85416" y="2139696"/>
            <a:ext cx="329184" cy="329184"/>
          </a:xfrm>
          <a:prstGeom prst="rect">
            <a:avLst/>
          </a:prstGeom>
          <a:solidFill>
            <a:srgbClr val="FFF2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32888" y="2139696"/>
            <a:ext cx="329184" cy="329184"/>
          </a:xfrm>
          <a:prstGeom prst="rect">
            <a:avLst/>
          </a:prstGeom>
          <a:solidFill>
            <a:srgbClr val="EAF1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80360" y="2139696"/>
            <a:ext cx="329184" cy="329184"/>
          </a:xfrm>
          <a:prstGeom prst="rect">
            <a:avLst/>
          </a:prstGeom>
          <a:solidFill>
            <a:srgbClr val="E5F4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000" y="2487168"/>
            <a:ext cx="329184" cy="329184"/>
          </a:xfrm>
          <a:prstGeom prst="rect">
            <a:avLst/>
          </a:prstGeom>
          <a:solidFill>
            <a:srgbClr val="EAF1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90472" y="2487168"/>
            <a:ext cx="329184" cy="329184"/>
          </a:xfrm>
          <a:prstGeom prst="rect">
            <a:avLst/>
          </a:prstGeom>
          <a:solidFill>
            <a:srgbClr val="E5F4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37944" y="2487168"/>
            <a:ext cx="329184" cy="329184"/>
          </a:xfrm>
          <a:prstGeom prst="rect">
            <a:avLst/>
          </a:prstGeom>
          <a:solidFill>
            <a:srgbClr val="FFF2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85416" y="2487168"/>
            <a:ext cx="329184" cy="329184"/>
          </a:xfrm>
          <a:prstGeom prst="rect">
            <a:avLst/>
          </a:prstGeom>
          <a:solidFill>
            <a:srgbClr val="EAF1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32888" y="2487168"/>
            <a:ext cx="329184" cy="329184"/>
          </a:xfrm>
          <a:prstGeom prst="rect">
            <a:avLst/>
          </a:prstGeom>
          <a:solidFill>
            <a:srgbClr val="E5F4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80360" y="2487168"/>
            <a:ext cx="329184" cy="329184"/>
          </a:xfrm>
          <a:prstGeom prst="rect">
            <a:avLst/>
          </a:prstGeom>
          <a:solidFill>
            <a:srgbClr val="FFF2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43000" y="2834640"/>
            <a:ext cx="329184" cy="329184"/>
          </a:xfrm>
          <a:prstGeom prst="rect">
            <a:avLst/>
          </a:prstGeom>
          <a:solidFill>
            <a:srgbClr val="E5F4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90472" y="2834640"/>
            <a:ext cx="329184" cy="329184"/>
          </a:xfrm>
          <a:prstGeom prst="rect">
            <a:avLst/>
          </a:prstGeom>
          <a:solidFill>
            <a:srgbClr val="FFF2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37944" y="2834640"/>
            <a:ext cx="329184" cy="329184"/>
          </a:xfrm>
          <a:prstGeom prst="rect">
            <a:avLst/>
          </a:prstGeom>
          <a:solidFill>
            <a:srgbClr val="EAF1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85416" y="2834640"/>
            <a:ext cx="329184" cy="329184"/>
          </a:xfrm>
          <a:prstGeom prst="rect">
            <a:avLst/>
          </a:prstGeom>
          <a:solidFill>
            <a:srgbClr val="E5F4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32888" y="2834640"/>
            <a:ext cx="329184" cy="329184"/>
          </a:xfrm>
          <a:prstGeom prst="rect">
            <a:avLst/>
          </a:prstGeom>
          <a:solidFill>
            <a:srgbClr val="FFF2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80360" y="2834640"/>
            <a:ext cx="329184" cy="329184"/>
          </a:xfrm>
          <a:prstGeom prst="rect">
            <a:avLst/>
          </a:prstGeom>
          <a:solidFill>
            <a:srgbClr val="EAF1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3000" y="3182112"/>
            <a:ext cx="329184" cy="329184"/>
          </a:xfrm>
          <a:prstGeom prst="rect">
            <a:avLst/>
          </a:prstGeom>
          <a:solidFill>
            <a:srgbClr val="FFF2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90472" y="3182112"/>
            <a:ext cx="329184" cy="329184"/>
          </a:xfrm>
          <a:prstGeom prst="rect">
            <a:avLst/>
          </a:prstGeom>
          <a:solidFill>
            <a:srgbClr val="EAF1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37944" y="3182112"/>
            <a:ext cx="329184" cy="329184"/>
          </a:xfrm>
          <a:prstGeom prst="rect">
            <a:avLst/>
          </a:prstGeom>
          <a:solidFill>
            <a:srgbClr val="E5F4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85416" y="3182112"/>
            <a:ext cx="329184" cy="329184"/>
          </a:xfrm>
          <a:prstGeom prst="rect">
            <a:avLst/>
          </a:prstGeom>
          <a:solidFill>
            <a:srgbClr val="FFF2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32888" y="3182112"/>
            <a:ext cx="329184" cy="329184"/>
          </a:xfrm>
          <a:prstGeom prst="rect">
            <a:avLst/>
          </a:prstGeom>
          <a:solidFill>
            <a:srgbClr val="EAF1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80360" y="3182112"/>
            <a:ext cx="329184" cy="329184"/>
          </a:xfrm>
          <a:prstGeom prst="rect">
            <a:avLst/>
          </a:prstGeom>
          <a:solidFill>
            <a:srgbClr val="E5F4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0" y="3657600"/>
            <a:ext cx="1097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Image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87952" y="2331720"/>
            <a:ext cx="640080" cy="0"/>
          </a:xfrm>
          <a:prstGeom prst="line">
            <a:avLst/>
          </a:prstGeom>
          <a:noFill/>
          <a:ln w="1778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983480" y="1938528"/>
            <a:ext cx="621792" cy="749808"/>
          </a:xfrm>
          <a:prstGeom prst="roundRect">
            <a:avLst>
              <a:gd name="adj" fmla="val 5882"/>
            </a:avLst>
          </a:prstGeom>
          <a:solidFill>
            <a:srgbClr val="EAF1F8"/>
          </a:solidFill>
          <a:ln w="7620">
            <a:solidFill>
              <a:srgbClr val="D8DE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0" y="2194560"/>
            <a:ext cx="53035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Patch 1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733288" y="1938528"/>
            <a:ext cx="621792" cy="749808"/>
          </a:xfrm>
          <a:prstGeom prst="roundRect">
            <a:avLst>
              <a:gd name="adj" fmla="val 5882"/>
            </a:avLst>
          </a:prstGeom>
          <a:solidFill>
            <a:srgbClr val="E5F4F3"/>
          </a:solidFill>
          <a:ln w="7620">
            <a:solidFill>
              <a:srgbClr val="D8DE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79008" y="2194560"/>
            <a:ext cx="53035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Patch 2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483096" y="1938528"/>
            <a:ext cx="621792" cy="749808"/>
          </a:xfrm>
          <a:prstGeom prst="roundRect">
            <a:avLst>
              <a:gd name="adj" fmla="val 5882"/>
            </a:avLst>
          </a:prstGeom>
          <a:solidFill>
            <a:srgbClr val="FFF2D8"/>
          </a:solidFill>
          <a:ln w="7620">
            <a:solidFill>
              <a:srgbClr val="D8DE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28816" y="2194560"/>
            <a:ext cx="53035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Patch 3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232904" y="1938528"/>
            <a:ext cx="621792" cy="74980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7620">
            <a:solidFill>
              <a:srgbClr val="D8DE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78624" y="2194560"/>
            <a:ext cx="53035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...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982712" y="1938528"/>
            <a:ext cx="621792" cy="749808"/>
          </a:xfrm>
          <a:prstGeom prst="roundRect">
            <a:avLst>
              <a:gd name="adj" fmla="val 5882"/>
            </a:avLst>
          </a:prstGeom>
          <a:solidFill>
            <a:srgbClr val="FCEBE6"/>
          </a:solidFill>
          <a:ln w="7620">
            <a:solidFill>
              <a:srgbClr val="D8DE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28432" y="2194560"/>
            <a:ext cx="53035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Patch N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8759952" y="2331720"/>
            <a:ext cx="822960" cy="0"/>
          </a:xfrm>
          <a:prstGeom prst="line">
            <a:avLst/>
          </a:prstGeom>
          <a:noFill/>
          <a:ln w="1778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9829800" y="1664208"/>
            <a:ext cx="1554480" cy="1325880"/>
          </a:xfrm>
          <a:prstGeom prst="roundRect">
            <a:avLst>
              <a:gd name="adj" fmla="val 4138"/>
            </a:avLst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58400" y="1993392"/>
            <a:ext cx="1097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Vision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Transformer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13232" y="4370832"/>
            <a:ext cx="34747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13232" y="4370832"/>
            <a:ext cx="73152" cy="114300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4400" y="4535424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像素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914400" y="4956048"/>
            <a:ext cx="309067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原始输入，局部连续但语义弱。</a:t>
            </a:r>
            <a:endParaRPr lang="en-US" sz="960" dirty="0"/>
          </a:p>
        </p:txBody>
      </p:sp>
      <p:sp>
        <p:nvSpPr>
          <p:cNvPr id="62" name="Shape 60"/>
          <p:cNvSpPr/>
          <p:nvPr/>
        </p:nvSpPr>
        <p:spPr>
          <a:xfrm>
            <a:off x="4434840" y="4370832"/>
            <a:ext cx="34747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434840" y="4370832"/>
            <a:ext cx="73152" cy="1143000"/>
          </a:xfrm>
          <a:prstGeom prst="rect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36008" y="4535424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Patch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4636008" y="4956048"/>
            <a:ext cx="309067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把图像切块，形成可输入 Transformer 的序列。</a:t>
            </a:r>
            <a:endParaRPr lang="en-US" sz="960" dirty="0"/>
          </a:p>
        </p:txBody>
      </p:sp>
      <p:sp>
        <p:nvSpPr>
          <p:cNvPr id="66" name="Shape 64"/>
          <p:cNvSpPr/>
          <p:nvPr/>
        </p:nvSpPr>
        <p:spPr>
          <a:xfrm>
            <a:off x="8156448" y="4370832"/>
            <a:ext cx="34747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156448" y="4370832"/>
            <a:ext cx="73152" cy="1143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57616" y="4535424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视觉特征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8357616" y="4956048"/>
            <a:ext cx="309067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越高层越抽象，从边缘纹理到对象和关系。</a:t>
            </a:r>
            <a:endParaRPr lang="en-US" sz="960" dirty="0"/>
          </a:p>
        </p:txBody>
      </p:sp>
      <p:sp>
        <p:nvSpPr>
          <p:cNvPr id="70" name="Text 68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NLP + CV 核心要点</a:t>
            </a:r>
            <a:endParaRPr lang="en-US" sz="780" dirty="0"/>
          </a:p>
        </p:txBody>
      </p:sp>
      <p:sp>
        <p:nvSpPr>
          <p:cNvPr id="71" name="Text 69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CV 任务边界：别把“看懂”混成一个词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02412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主流任务的区别在输出形式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53312"/>
            <a:ext cx="1298448" cy="420624"/>
          </a:xfrm>
          <a:prstGeom prst="roundRect">
            <a:avLst>
              <a:gd name="adj" fmla="val 15217"/>
            </a:avLst>
          </a:prstGeom>
          <a:solidFill>
            <a:srgbClr val="FFF2D8"/>
          </a:solidFill>
          <a:ln w="10160">
            <a:solidFill>
              <a:srgbClr val="F2A5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421892"/>
            <a:ext cx="115214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2A5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23160" y="1426464"/>
            <a:ext cx="3657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整张图是什么？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426464"/>
            <a:ext cx="3108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类别标签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22960" y="1965960"/>
            <a:ext cx="10012680" cy="0"/>
          </a:xfrm>
          <a:prstGeom prst="line">
            <a:avLst/>
          </a:prstGeom>
          <a:noFill/>
          <a:ln w="8890">
            <a:solidFill>
              <a:srgbClr val="D8D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231136"/>
            <a:ext cx="1298448" cy="420624"/>
          </a:xfrm>
          <a:prstGeom prst="roundRect">
            <a:avLst>
              <a:gd name="adj" fmla="val 15217"/>
            </a:avLst>
          </a:prstGeom>
          <a:solidFill>
            <a:srgbClr val="EAF1F8"/>
          </a:solidFill>
          <a:ln w="10160">
            <a:solidFill>
              <a:srgbClr val="255C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299716"/>
            <a:ext cx="115214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5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检测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23160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目标在哪里？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304288"/>
            <a:ext cx="3108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类别 + 边界框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22960" y="2843784"/>
            <a:ext cx="10012680" cy="0"/>
          </a:xfrm>
          <a:prstGeom prst="line">
            <a:avLst/>
          </a:prstGeom>
          <a:noFill/>
          <a:ln w="8890">
            <a:solidFill>
              <a:srgbClr val="D8D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108960"/>
            <a:ext cx="1298448" cy="420624"/>
          </a:xfrm>
          <a:prstGeom prst="roundRect">
            <a:avLst>
              <a:gd name="adj" fmla="val 15217"/>
            </a:avLst>
          </a:prstGeom>
          <a:solidFill>
            <a:srgbClr val="E5F4F3"/>
          </a:solidFill>
          <a:ln w="10160">
            <a:solidFill>
              <a:srgbClr val="0F8B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177540"/>
            <a:ext cx="115214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F8B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语义分割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2316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每个像素属于哪类？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182112"/>
            <a:ext cx="3108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类别掩膜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822960" y="3721608"/>
            <a:ext cx="10012680" cy="0"/>
          </a:xfrm>
          <a:prstGeom prst="line">
            <a:avLst/>
          </a:prstGeom>
          <a:noFill/>
          <a:ln w="8890">
            <a:solidFill>
              <a:srgbClr val="D8D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986784"/>
            <a:ext cx="1298448" cy="420624"/>
          </a:xfrm>
          <a:prstGeom prst="roundRect">
            <a:avLst>
              <a:gd name="adj" fmla="val 15217"/>
            </a:avLst>
          </a:prstGeom>
          <a:solidFill>
            <a:srgbClr val="EAF4ED"/>
          </a:solidFill>
          <a:ln w="10160">
            <a:solidFill>
              <a:srgbClr val="5C94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055364"/>
            <a:ext cx="115214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5C94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实例分割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23160" y="4059936"/>
            <a:ext cx="3657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每个独立对象是谁？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4059936"/>
            <a:ext cx="3108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实例掩膜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822960" y="4599432"/>
            <a:ext cx="10012680" cy="0"/>
          </a:xfrm>
          <a:prstGeom prst="line">
            <a:avLst/>
          </a:prstGeom>
          <a:noFill/>
          <a:ln w="8890">
            <a:solidFill>
              <a:srgbClr val="D8DE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864608"/>
            <a:ext cx="1298448" cy="420624"/>
          </a:xfrm>
          <a:prstGeom prst="roundRect">
            <a:avLst>
              <a:gd name="adj" fmla="val 15217"/>
            </a:avLst>
          </a:prstGeom>
          <a:solidFill>
            <a:srgbClr val="FCEBE6"/>
          </a:solidFill>
          <a:ln w="10160">
            <a:solidFill>
              <a:srgbClr val="D95D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4933188"/>
            <a:ext cx="115214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D95D3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跟踪/动作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42316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时间上发生了什么？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4937760"/>
            <a:ext cx="3108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轨迹 / 动作片段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822960" y="5477256"/>
            <a:ext cx="10012680" cy="0"/>
          </a:xfrm>
          <a:prstGeom prst="line">
            <a:avLst/>
          </a:prstGeom>
          <a:noFill/>
          <a:ln w="8890">
            <a:solidFill>
              <a:srgbClr val="D8D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5989320"/>
            <a:ext cx="10058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434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讲清输出形式，学生就能区分模型能力和评价指标。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NLP + CV 核心要点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视觉基础模型：从专用模型到可提示模型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02412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ViT、CLIP、SAM 代表了现代 CV 的三条主线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389888"/>
            <a:ext cx="3401568" cy="384048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89888"/>
            <a:ext cx="73152" cy="3840480"/>
          </a:xfrm>
          <a:prstGeom prst="rect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54480"/>
            <a:ext cx="303580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975104"/>
            <a:ext cx="3017520" cy="3127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把图像切成 patch 序列，用 Transformer 学视觉表示。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意义：视觉模型开始继承 NLP 的可扩展架构。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389120" y="1389888"/>
            <a:ext cx="3401568" cy="384048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389888"/>
            <a:ext cx="73152" cy="38404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554480"/>
            <a:ext cx="303580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CLIP / VLM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90288" y="1975104"/>
            <a:ext cx="3017520" cy="3127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用图文配对学习共享语义空间。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意义：图像可以用自然语言检索、分类、问答。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8065008" y="1389888"/>
            <a:ext cx="3401568" cy="384048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65008" y="1389888"/>
            <a:ext cx="73152" cy="3840480"/>
          </a:xfrm>
          <a:prstGeom prst="rect">
            <a:avLst/>
          </a:prstGeom>
          <a:solidFill>
            <a:srgbClr val="5C946E"/>
          </a:solidFill>
          <a:ln w="12700">
            <a:solidFill>
              <a:srgbClr val="5C94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1554480"/>
            <a:ext cx="303580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SAM 系列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66176" y="1975104"/>
            <a:ext cx="3017520" cy="3127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用点、框、文本等提示分割对象。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意义：分割从固定类别转向可交互、可泛化。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868680" y="5742432"/>
            <a:ext cx="10515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434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共同趋势：更少依赖固定标签，更强调提示、零样本、跨任务迁移。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NLP + CV 核心要点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视频、生成与 3D：CV 的下一层主线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02412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图片只是单帧，真实世界是时间、空间和物理约束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417320"/>
            <a:ext cx="3474720" cy="388620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417320"/>
            <a:ext cx="73152" cy="3886200"/>
          </a:xfrm>
          <a:prstGeom prst="rect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8191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视频理解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002536"/>
            <a:ext cx="3090672" cy="3172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核心难点是时间：同一目标跨帧身份、动作过程、遮挡和场景变化。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常见任务：跟踪、动作识别、视频问答、异常检测。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3474720" cy="388620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417320"/>
            <a:ext cx="73152" cy="3886200"/>
          </a:xfrm>
          <a:prstGeom prst="rect">
            <a:avLst/>
          </a:prstGeom>
          <a:solidFill>
            <a:srgbClr val="D95D39"/>
          </a:solidFill>
          <a:ln w="12700">
            <a:solidFill>
              <a:srgbClr val="D95D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58191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生成式视觉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6008" y="2002536"/>
            <a:ext cx="3090672" cy="3172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扩散模型与 Transformer 结合，支持文生图、文生视频、编辑、修复和风格迁移。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重点不是“画图”，而是可控生成与一致性。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8156448" y="1417320"/>
            <a:ext cx="3474720" cy="388620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56448" y="1417320"/>
            <a:ext cx="73152" cy="3886200"/>
          </a:xfrm>
          <a:prstGeom prst="rect">
            <a:avLst/>
          </a:prstGeom>
          <a:solidFill>
            <a:srgbClr val="5C946E"/>
          </a:solidFill>
          <a:ln w="12700">
            <a:solidFill>
              <a:srgbClr val="5C94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158191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3D 与空间智能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57616" y="2002536"/>
            <a:ext cx="3090672" cy="3172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2D 图像反推几何、材质和场景结构。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机器人、AR/XR、自动驾驶更关心空间关系和可行动性。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960120" y="5779008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2434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核心变化：CV 从“识别图像内容”扩展为“理解和生成动态世界”。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NLP + CV 核心要点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CV 落地：能力强，边界也硬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02412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视觉系统最怕“训练集里很好，真实世界失效”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417320"/>
            <a:ext cx="3474720" cy="356616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417320"/>
            <a:ext cx="73152" cy="3566160"/>
          </a:xfrm>
          <a:prstGeom prst="rect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8191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主流场景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002536"/>
            <a:ext cx="3090672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工业质检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医疗影像辅助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自动驾驶/机器人感知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遥感与安防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零售、内容审核、文档理解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3474720" cy="356616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417320"/>
            <a:ext cx="73152" cy="3566160"/>
          </a:xfrm>
          <a:prstGeom prst="rect">
            <a:avLst/>
          </a:prstGeom>
          <a:solidFill>
            <a:srgbClr val="D95D39"/>
          </a:solidFill>
          <a:ln w="12700">
            <a:solidFill>
              <a:srgbClr val="D95D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58191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核心风险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6008" y="2002536"/>
            <a:ext cx="3090672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光照、角度、遮挡、运动模糊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数据偏差与长尾目标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摄像头/传感器变化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隐私与误识别责任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8156448" y="1417320"/>
            <a:ext cx="3474720" cy="356616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56448" y="1417320"/>
            <a:ext cx="73152" cy="3566160"/>
          </a:xfrm>
          <a:prstGeom prst="rect">
            <a:avLst/>
          </a:prstGeom>
          <a:solidFill>
            <a:srgbClr val="5C946E"/>
          </a:solidFill>
          <a:ln w="12700">
            <a:solidFill>
              <a:srgbClr val="5C94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158191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工程指标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57616" y="2002536"/>
            <a:ext cx="3090672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准确率 / mAP / IoU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召回率与误报率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FPS 与端侧算力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鲁棒性、漂移监控、人工复核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914400" y="5559552"/>
            <a:ext cx="10241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60" b="1" dirty="0">
                <a:solidFill>
                  <a:srgbClr val="2434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CV 产品不是“模型能识别”就结束，而是要在真实环境持续稳定。</a:t>
            </a:r>
            <a:endParaRPr lang="en-US" sz="146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NLP + CV 核心要点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2286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>
                    <a:alpha val="90000"/>
                  </a:srgbClr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2148840"/>
            <a:ext cx="104241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融合：NLP 和 CV 正在合流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94944" y="3063240"/>
            <a:ext cx="9784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FFFFFF">
                    <a:alpha val="92000"/>
                  </a:srgbClr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多模态模型把文本、图像、视频、语音和工具放到同一个任务链路里。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4944" y="3749040"/>
            <a:ext cx="3840480" cy="0"/>
          </a:xfrm>
          <a:prstGeom prst="line">
            <a:avLst/>
          </a:prstGeom>
          <a:noFill/>
          <a:ln w="25400">
            <a:solidFill>
              <a:srgbClr val="FFFFFF">
                <a:alpha val="8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多模态：共同语义空间是关键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02412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文本负责表达意图，视觉负责提供证据，模型负责对齐与推理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2057400"/>
            <a:ext cx="2103120" cy="1005840"/>
          </a:xfrm>
          <a:prstGeom prst="ellipse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65192" y="2450592"/>
            <a:ext cx="1325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共享语义空间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1325880"/>
            <a:ext cx="1463040" cy="493776"/>
          </a:xfrm>
          <a:prstGeom prst="roundRect">
            <a:avLst>
              <a:gd name="adj" fmla="val 12963"/>
            </a:avLst>
          </a:prstGeom>
          <a:solidFill>
            <a:srgbClr val="E5F4F3"/>
          </a:solidFill>
          <a:ln w="10160">
            <a:solidFill>
              <a:srgbClr val="0F8B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394460"/>
            <a:ext cx="131673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8B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78608" y="1572768"/>
            <a:ext cx="1920240" cy="987552"/>
          </a:xfrm>
          <a:prstGeom prst="line">
            <a:avLst/>
          </a:prstGeom>
          <a:noFill/>
          <a:ln w="15240">
            <a:solidFill>
              <a:srgbClr val="0F8B8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61120" y="1325880"/>
            <a:ext cx="1463040" cy="493776"/>
          </a:xfrm>
          <a:prstGeom prst="roundRect">
            <a:avLst>
              <a:gd name="adj" fmla="val 12963"/>
            </a:avLst>
          </a:prstGeom>
          <a:solidFill>
            <a:srgbClr val="EAF1F8"/>
          </a:solidFill>
          <a:ln w="10160">
            <a:solidFill>
              <a:srgbClr val="255C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34272" y="1394460"/>
            <a:ext cx="131673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55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1572768"/>
            <a:ext cx="2423160" cy="987552"/>
          </a:xfrm>
          <a:prstGeom prst="line">
            <a:avLst/>
          </a:prstGeom>
          <a:noFill/>
          <a:ln w="15240">
            <a:solidFill>
              <a:srgbClr val="255C99"/>
            </a:solidFill>
            <a:prstDash val="solid"/>
            <a:headEnd type="triangl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097280" y="3337560"/>
            <a:ext cx="1463040" cy="493776"/>
          </a:xfrm>
          <a:prstGeom prst="roundRect">
            <a:avLst>
              <a:gd name="adj" fmla="val 12963"/>
            </a:avLst>
          </a:prstGeom>
          <a:solidFill>
            <a:srgbClr val="FCEBE6"/>
          </a:solidFill>
          <a:ln w="10160">
            <a:solidFill>
              <a:srgbClr val="D95D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406140"/>
            <a:ext cx="131673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D95D3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视频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78608" y="3584448"/>
            <a:ext cx="1920240" cy="-1024128"/>
          </a:xfrm>
          <a:prstGeom prst="line">
            <a:avLst/>
          </a:prstGeom>
          <a:noFill/>
          <a:ln w="15240">
            <a:solidFill>
              <a:srgbClr val="D95D3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961120" y="3337560"/>
            <a:ext cx="1463040" cy="493776"/>
          </a:xfrm>
          <a:prstGeom prst="roundRect">
            <a:avLst>
              <a:gd name="adj" fmla="val 12963"/>
            </a:avLst>
          </a:prstGeom>
          <a:solidFill>
            <a:srgbClr val="EAF4ED"/>
          </a:solidFill>
          <a:ln w="10160">
            <a:solidFill>
              <a:srgbClr val="5C94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34272" y="3406140"/>
            <a:ext cx="131673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5C94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工具/API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3584448"/>
            <a:ext cx="2423160" cy="-1024128"/>
          </a:xfrm>
          <a:prstGeom prst="line">
            <a:avLst/>
          </a:prstGeom>
          <a:noFill/>
          <a:ln w="15240">
            <a:solidFill>
              <a:srgbClr val="5C946E"/>
            </a:solidFill>
            <a:prstDash val="solid"/>
            <a:headEnd type="triangl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3108960" y="3749040"/>
            <a:ext cx="6035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434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图文对齐 + 时序理解 + 工具调用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3232" y="4892040"/>
            <a:ext cx="3474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892040"/>
            <a:ext cx="73152" cy="960120"/>
          </a:xfrm>
          <a:prstGeom prst="rect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05663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视觉问答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5477256"/>
            <a:ext cx="3090672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看图、读题、定位证据、生成回答。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434840" y="4892040"/>
            <a:ext cx="3474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4840" y="4892040"/>
            <a:ext cx="73152" cy="9601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6008" y="505663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文档理解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36008" y="5477256"/>
            <a:ext cx="3090672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版面、表格、图像和文字一起解析。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8156448" y="4892040"/>
            <a:ext cx="3474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56448" y="4892040"/>
            <a:ext cx="73152" cy="960120"/>
          </a:xfrm>
          <a:prstGeom prst="rect">
            <a:avLst/>
          </a:prstGeom>
          <a:solidFill>
            <a:srgbClr val="5C946E"/>
          </a:solidFill>
          <a:ln w="12700">
            <a:solidFill>
              <a:srgbClr val="5C94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57616" y="505663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 Agent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57616" y="5477256"/>
            <a:ext cx="3090672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观察屏幕或环境，再调用工具完成任务。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NLP + CV 核心要点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AI 产品架构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02412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课堂可以用这张图把 NLP 与 CV 全部串起来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25880"/>
            <a:ext cx="1645920" cy="786384"/>
          </a:xfrm>
          <a:prstGeom prst="roundRect">
            <a:avLst>
              <a:gd name="adj" fmla="val 5814"/>
            </a:avLst>
          </a:prstGeom>
          <a:solidFill>
            <a:srgbClr val="FFF2D8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27048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用户输入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76856" y="1581912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05456" y="1325880"/>
            <a:ext cx="1645920" cy="786384"/>
          </a:xfrm>
          <a:prstGeom prst="roundRect">
            <a:avLst>
              <a:gd name="adj" fmla="val 5814"/>
            </a:avLst>
          </a:prstGeom>
          <a:solidFill>
            <a:srgbClr val="EAF1F8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96896" y="1527048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意图/模态识别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23944" y="1581912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2544" y="1325880"/>
            <a:ext cx="1645920" cy="786384"/>
          </a:xfrm>
          <a:prstGeom prst="roundRect">
            <a:avLst>
              <a:gd name="adj" fmla="val 5814"/>
            </a:avLst>
          </a:prstGeom>
          <a:solidFill>
            <a:srgbClr val="E5F4F3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3984" y="1527048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检索与记忆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71032" y="1581912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1325880"/>
            <a:ext cx="1645920" cy="786384"/>
          </a:xfrm>
          <a:prstGeom prst="roundRect">
            <a:avLst>
              <a:gd name="adj" fmla="val 5814"/>
            </a:avLst>
          </a:prstGeom>
          <a:solidFill>
            <a:srgbClr val="243447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527048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模型推理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18120" y="1581912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1325880"/>
            <a:ext cx="1645920" cy="786384"/>
          </a:xfrm>
          <a:prstGeom prst="roundRect">
            <a:avLst>
              <a:gd name="adj" fmla="val 5814"/>
            </a:avLst>
          </a:prstGeom>
          <a:solidFill>
            <a:srgbClr val="EAF4ED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1527048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工具执行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65208" y="1581912"/>
            <a:ext cx="237744" cy="256032"/>
          </a:xfrm>
          <a:prstGeom prst="chevron">
            <a:avLst/>
          </a:prstGeom>
          <a:solidFill>
            <a:srgbClr val="5B6770">
              <a:alpha val="65000"/>
            </a:srgbClr>
          </a:solidFill>
          <a:ln w="12700">
            <a:solidFill>
              <a:srgbClr val="5B6770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93808" y="1325880"/>
            <a:ext cx="1645920" cy="786384"/>
          </a:xfrm>
          <a:prstGeom prst="roundRect">
            <a:avLst>
              <a:gd name="adj" fmla="val 5814"/>
            </a:avLst>
          </a:prstGeom>
          <a:solidFill>
            <a:srgbClr val="FCEBE6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85248" y="1527048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验证与反馈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" y="2606040"/>
            <a:ext cx="34747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2606040"/>
            <a:ext cx="73152" cy="265176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277063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3191256"/>
            <a:ext cx="3090672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文本、图片、视频、语音、文件、屏幕。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先判断任务类型和风险等级。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4434840" y="2606040"/>
            <a:ext cx="34747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4840" y="2606040"/>
            <a:ext cx="73152" cy="2651760"/>
          </a:xfrm>
          <a:prstGeom prst="rect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6008" y="277063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36008" y="3191256"/>
            <a:ext cx="3090672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Embedding、RAG、VLM、LLM、OCR、检测、分割、工具调用。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8156448" y="2606040"/>
            <a:ext cx="34747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56448" y="2606040"/>
            <a:ext cx="73152" cy="2651760"/>
          </a:xfrm>
          <a:prstGeom prst="rect">
            <a:avLst/>
          </a:prstGeom>
          <a:solidFill>
            <a:srgbClr val="D95D39"/>
          </a:solidFill>
          <a:ln w="12700">
            <a:solidFill>
              <a:srgbClr val="D95D3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57616" y="277063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治理层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57616" y="3191256"/>
            <a:ext cx="3090672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权限、引用、拒答、日志、人工审核、持续评估。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896112" y="5715000"/>
            <a:ext cx="10241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核心判断：能不能用，不只取决于模型，还取决于数据和控制链路。</a:t>
            </a:r>
            <a:endParaRPr lang="en-US" sz="142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NLP + CV 核心要点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评估：现在必须讲，否则容易误用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02412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模型课不能只讲能力，也要讲验证方法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417320"/>
            <a:ext cx="3474720" cy="388620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417320"/>
            <a:ext cx="73152" cy="38862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8191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NLP 评估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002536"/>
            <a:ext cx="3090672" cy="3172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事实正确性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证据忠实度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拒答与不确定性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任务完成率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偏见/安全/隐私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3474720" cy="388620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417320"/>
            <a:ext cx="73152" cy="3886200"/>
          </a:xfrm>
          <a:prstGeom prst="rect">
            <a:avLst/>
          </a:prstGeom>
          <a:solidFill>
            <a:srgbClr val="255C99"/>
          </a:solidFill>
          <a:ln w="12700">
            <a:solidFill>
              <a:srgbClr val="255C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58191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CV 评估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6008" y="2002536"/>
            <a:ext cx="3090672" cy="3172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分类准确率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mAP / IoU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召回率与误报率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鲁棒性/域迁移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FPS / 内存 / 端侧功耗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8156448" y="1417320"/>
            <a:ext cx="3474720" cy="388620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56448" y="1417320"/>
            <a:ext cx="73152" cy="3886200"/>
          </a:xfrm>
          <a:prstGeom prst="rect">
            <a:avLst/>
          </a:prstGeom>
          <a:solidFill>
            <a:srgbClr val="D95D39"/>
          </a:solidFill>
          <a:ln w="12700">
            <a:solidFill>
              <a:srgbClr val="D95D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158191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系统评估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57616" y="2002536"/>
            <a:ext cx="3090672" cy="3172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端到端成功率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人工介入率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成本与延迟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数据漂移监控</a:t>
            </a:r>
            <a:endParaRPr lang="en-US" sz="96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6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失败案例回放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914400" y="5742432"/>
            <a:ext cx="10241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434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一句话：没有评估闭环，模型能力越强，误用风险越大。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NLP + CV 核心要点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建议讲法：一节课讲清主线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02412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把知识点变成一条可记住的路径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353312"/>
            <a:ext cx="10972800" cy="4160520"/>
          </a:xfrm>
          <a:prstGeom prst="roundRect">
            <a:avLst>
              <a:gd name="adj" fmla="val 879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353312"/>
            <a:ext cx="10972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572768"/>
            <a:ext cx="914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F8B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min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21408" y="1572768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为什么做减法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4590288" y="1572768"/>
            <a:ext cx="7086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2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旧式知识点只做参照，目标是理解现代系统。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49808" y="2139696"/>
            <a:ext cx="10972800" cy="0"/>
          </a:xfrm>
          <a:prstGeom prst="line">
            <a:avLst/>
          </a:prstGeom>
          <a:noFill/>
          <a:ln w="7620">
            <a:solidFill>
              <a:srgbClr val="D8DE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2139696"/>
            <a:ext cx="10972800" cy="786384"/>
          </a:xfrm>
          <a:prstGeom prst="rect">
            <a:avLst/>
          </a:prstGeom>
          <a:solidFill>
            <a:srgbClr val="F2F5F2"/>
          </a:solidFill>
          <a:ln w="12700">
            <a:solidFill>
              <a:srgbClr val="F2F5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359152"/>
            <a:ext cx="914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F8B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 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21408" y="2359152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NLP 核心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4590288" y="2359152"/>
            <a:ext cx="7086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2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Token、Embedding、Transformer、LLM、RAG/工具。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49808" y="2926080"/>
            <a:ext cx="10972800" cy="0"/>
          </a:xfrm>
          <a:prstGeom prst="line">
            <a:avLst/>
          </a:prstGeom>
          <a:noFill/>
          <a:ln w="7620">
            <a:solidFill>
              <a:srgbClr val="D8DE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2926080"/>
            <a:ext cx="10972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3145536"/>
            <a:ext cx="914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F8B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 min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21408" y="3145536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CV 核心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4590288" y="3145536"/>
            <a:ext cx="7086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2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Patch、ViT、检测/分割、CLIP/SAM、视频/生成。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49808" y="3712464"/>
            <a:ext cx="10972800" cy="0"/>
          </a:xfrm>
          <a:prstGeom prst="line">
            <a:avLst/>
          </a:prstGeom>
          <a:noFill/>
          <a:ln w="7620">
            <a:solidFill>
              <a:srgbClr val="D8DE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3712464"/>
            <a:ext cx="10972800" cy="786384"/>
          </a:xfrm>
          <a:prstGeom prst="rect">
            <a:avLst/>
          </a:prstGeom>
          <a:solidFill>
            <a:srgbClr val="F2F5F2"/>
          </a:solidFill>
          <a:ln w="12700">
            <a:solidFill>
              <a:srgbClr val="F2F5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3931920"/>
            <a:ext cx="914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F8B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min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21408" y="3931920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融合与架构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4590288" y="3931920"/>
            <a:ext cx="7086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2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多模态系统如何把文本、视觉和工具串起来。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749808" y="4498848"/>
            <a:ext cx="10972800" cy="0"/>
          </a:xfrm>
          <a:prstGeom prst="line">
            <a:avLst/>
          </a:prstGeom>
          <a:noFill/>
          <a:ln w="7620">
            <a:solidFill>
              <a:srgbClr val="D8DE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4498848"/>
            <a:ext cx="10972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" y="4718304"/>
            <a:ext cx="914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F8B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min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21408" y="471830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评估与讨论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4590288" y="4718304"/>
            <a:ext cx="7086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2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幻觉、鲁棒性、成本、风险、课堂案例。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822960" y="5870448"/>
            <a:ext cx="10698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80" b="1" dirty="0">
                <a:solidFill>
                  <a:srgbClr val="2434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可选课堂练习：给一个“文档图片问答”任务，让学生标出需要 NLP、CV、RAG、工具和评估的位置。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NLP + CV 核心要点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最后让学生带走这 8 句话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02412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比记住一堆模型名更重要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D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53312"/>
            <a:ext cx="411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0F8B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16152" y="1408176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NLP 的入口是 token，CV 的入口是 patch。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0" y="1353312"/>
            <a:ext cx="411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255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56832" y="1408176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Embedding 是语义空间，不是关键词匹配。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496312"/>
            <a:ext cx="411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0F8B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16152" y="2551176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Transformer 的核心是上下文注意力。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0" y="2496312"/>
            <a:ext cx="411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255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656832" y="2551176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不是知识库，RAG 和工具让它接近真实业务。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3639312"/>
            <a:ext cx="411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0F8B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16152" y="3694176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CV 不只是分类，还包括定位、分割、跟踪和生成。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17920" y="3639312"/>
            <a:ext cx="411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255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56832" y="3694176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CLIP/VLM 让图像能被自然语言查询和推理。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4782312"/>
            <a:ext cx="411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0F8B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16152" y="4837176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SAM 类模型代表可提示、可交互的视觉分割。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17920" y="4782312"/>
            <a:ext cx="411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255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656832" y="4837176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上线看评估闭环，不看 demo 演示效果。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NLP + CV 核心要点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参考资料与更新依据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02412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用于校准“当前主流”表述，课堂不需要逐条展开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D8D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10607040" cy="1874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lnSpc>
                <a:spcPct val="92000"/>
              </a:lnSpc>
              <a:buSzPct val="100000"/>
              <a:buChar char="•"/>
            </a:pPr>
            <a:r>
              <a:rPr lang="en-US" sz="1350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 API Docs：Embeddings、Function Calling、Agents SDK。</a:t>
            </a:r>
            <a:endParaRPr lang="en-US" sz="1350" dirty="0"/>
          </a:p>
          <a:p>
            <a:pPr marL="152400" indent="-152400">
              <a:lnSpc>
                <a:spcPct val="92000"/>
              </a:lnSpc>
              <a:buSzPct val="100000"/>
              <a:buChar char="•"/>
            </a:pPr>
            <a:r>
              <a:rPr lang="en-US" sz="1350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 Research：CLIP；Video generation models as world simulators；Why language models hallucinate。</a:t>
            </a:r>
            <a:endParaRPr lang="en-US" sz="1350" dirty="0"/>
          </a:p>
          <a:p>
            <a:pPr marL="152400" indent="-152400">
              <a:lnSpc>
                <a:spcPct val="92000"/>
              </a:lnSpc>
              <a:buSzPct val="100000"/>
              <a:buChar char="•"/>
            </a:pPr>
            <a:r>
              <a:rPr lang="en-US" sz="1350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Google Research：Vision Transformer, Transformers for Image Recognition at Scale。</a:t>
            </a:r>
            <a:endParaRPr lang="en-US" sz="1350" dirty="0"/>
          </a:p>
          <a:p>
            <a:pPr marL="152400" indent="-152400">
              <a:lnSpc>
                <a:spcPct val="92000"/>
              </a:lnSpc>
              <a:buSzPct val="100000"/>
              <a:buChar char="•"/>
            </a:pPr>
            <a:r>
              <a:rPr lang="en-US" sz="1350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Meta AI：Segment Anything / SAM 2 / SAM 3。</a:t>
            </a:r>
            <a:endParaRPr lang="en-US" sz="1350" dirty="0"/>
          </a:p>
          <a:p>
            <a:pPr marL="152400" indent="-152400">
              <a:lnSpc>
                <a:spcPct val="92000"/>
              </a:lnSpc>
              <a:buSzPct val="100000"/>
              <a:buChar char="•"/>
            </a:pPr>
            <a:r>
              <a:rPr lang="en-US" sz="1350" dirty="0">
                <a:solidFill>
                  <a:srgbClr val="1720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原始素材：自然语言处理-讲解备注.pptx；计算机视觉0406-讲解备注.pptx。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730752"/>
            <a:ext cx="48920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55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Embeddings: https://developers.openai.com/api/docs/guides/embeddings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4133088"/>
            <a:ext cx="48920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55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Function calling: https://developers.openai.com/api/docs/guides/function-calling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4535424"/>
            <a:ext cx="48920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55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Agents SDK: https://developers.openai.com/api/docs/guides/agents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4937760"/>
            <a:ext cx="48920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55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CLIP: https://openai.com/index/clip/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0" y="3730752"/>
            <a:ext cx="48920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55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ViT: https://research.google/blog/transformers-for-image-recognition-at-scale/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0" y="4133088"/>
            <a:ext cx="48920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55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SAM 2: https://ai.meta.com/research/sam2/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0" y="4535424"/>
            <a:ext cx="48920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55C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Sora technical report: https://openai.com/index/video-generation-models-as-world-simulators/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 NLP + CV 核心要点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7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自然语言处理与计算机视觉：现代核心要点</dc:title>
  <dc:subject>现代 NLP 与 CV 核心要点精简课件</dc:subject>
  <dc:creator>Codex</dc:creator>
  <cp:lastModifiedBy>Codex</cp:lastModifiedBy>
  <cp:revision>1</cp:revision>
  <dcterms:created xsi:type="dcterms:W3CDTF">2026-06-16T01:28:10Z</dcterms:created>
  <dcterms:modified xsi:type="dcterms:W3CDTF">2026-06-16T01:28:10Z</dcterms:modified>
</cp:coreProperties>
</file>